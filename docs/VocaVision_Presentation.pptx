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4663440"/>
          </a:xfrm>
          <a:prstGeom prst="rect">
            <a:avLst/>
          </a:prstGeom>
          <a:solidFill>
            <a:srgbClr val="16213E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</a:rPr>
              <a:t>🎙️  👁️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VocaVision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7498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A9BD5"/>
                </a:solidFill>
              </a:rPr>
              <a:t>AI-Based Color, Clothing &amp; Food Recognition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7498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DDEE"/>
                </a:solidFill>
              </a:rPr>
              <a:t>Assistive System for Independent Daily Living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754880"/>
            <a:ext cx="1554480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77316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0F1A"/>
                </a:solidFill>
              </a:rPr>
              <a:t>YOLO v3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4754880"/>
            <a:ext cx="1554480" cy="347472"/>
          </a:xfrm>
          <a:prstGeom prst="rect">
            <a:avLst/>
          </a:prstGeom>
          <a:solidFill>
            <a:srgbClr val="3A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477316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0F1A"/>
                </a:solidFill>
              </a:rPr>
              <a:t>PyTorch GPU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4754880"/>
            <a:ext cx="1554480" cy="3474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477316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0F1A"/>
                </a:solidFill>
              </a:rPr>
              <a:t>Gradio Live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4754880"/>
            <a:ext cx="1554480" cy="34747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477316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gTTS Voice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1280160"/>
            <a:ext cx="2926080" cy="4389120"/>
          </a:xfrm>
          <a:prstGeom prst="rect">
            <a:avLst/>
          </a:prstGeom>
          <a:solidFill>
            <a:srgbClr val="0A0A14"/>
          </a:solidFill>
          <a:ln w="12700">
            <a:solidFill>
              <a:srgbClr val="3A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LIVE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057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📷  Webcam feed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6974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🔍  YOLO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337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🎨  K-Means colors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397763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🔊  Voice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4617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📊  Confidence chart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3A9BD5"/>
                </a:solidFill>
              </a:rPr>
              <a:t>Challenges faced by visually impaired individuals in daily life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577840" cy="2103120"/>
          </a:xfrm>
          <a:prstGeom prst="rect">
            <a:avLst/>
          </a:prstGeom>
          <a:solidFill>
            <a:srgbClr val="16213E"/>
          </a:solidFill>
          <a:ln w="15240">
            <a:solidFill>
              <a:srgbClr val="3A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27048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Clothing Recognition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01168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Cannot independently identify clothing color or type when dressing.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5577840" cy="2103120"/>
          </a:xfrm>
          <a:prstGeom prst="rect">
            <a:avLst/>
          </a:prstGeom>
          <a:solidFill>
            <a:srgbClr val="16213E"/>
          </a:solidFill>
          <a:ln w="15240">
            <a:solidFill>
              <a:srgbClr val="3A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27048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Food Identification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01168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Difficulty distinguishing food items on a plate or in a kitchen.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94760"/>
            <a:ext cx="5577840" cy="2103120"/>
          </a:xfrm>
          <a:prstGeom prst="rect">
            <a:avLst/>
          </a:prstGeom>
          <a:solidFill>
            <a:srgbClr val="16213E"/>
          </a:solidFill>
          <a:ln w="15240">
            <a:solidFill>
              <a:srgbClr val="3A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04488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🗣️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931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No Feedback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38912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Existing apps require internet APIs, delay responses, or cost money.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794760"/>
            <a:ext cx="5577840" cy="2103120"/>
          </a:xfrm>
          <a:prstGeom prst="rect">
            <a:avLst/>
          </a:prstGeom>
          <a:solidFill>
            <a:srgbClr val="16213E"/>
          </a:solidFill>
          <a:ln w="15240">
            <a:solidFill>
              <a:srgbClr val="3A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904488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3931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Accessibility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438912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No single offline tool combines clothing + food + voice output.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0" y="6144768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3A9BD5"/>
                </a:solidFill>
              </a:rPr>
              <a:t>253 million people worldwide are visually impaired  (WHO, 2024)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Our Solution — VocaVision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3A9BD5"/>
                </a:solidFill>
              </a:rPr>
              <a:t>A single offline, real-time assistive AI combining vision + voice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920240" cy="1920240"/>
          </a:xfrm>
          <a:prstGeom prst="rect">
            <a:avLst/>
          </a:prstGeom>
          <a:solidFill>
            <a:srgbClr val="16213E"/>
          </a:solidFill>
          <a:ln w="25400">
            <a:solidFill>
              <a:srgbClr val="3A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A9BD5"/>
                </a:solidFill>
              </a:rPr>
              <a:t>Live Camera
Feed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233172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99AA"/>
                </a:solidFill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1488" y="1554480"/>
            <a:ext cx="1920240" cy="1920240"/>
          </a:xfrm>
          <a:prstGeom prst="rect">
            <a:avLst/>
          </a:prstGeom>
          <a:solidFill>
            <a:srgbClr val="16213E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0128" y="16916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7208" y="23774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CC71"/>
                </a:solidFill>
              </a:rPr>
              <a:t>YOLO v3
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233172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99AA"/>
                </a:solidFill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65776" y="1554480"/>
            <a:ext cx="1920240" cy="1920240"/>
          </a:xfrm>
          <a:prstGeom prst="rect">
            <a:avLst/>
          </a:prstGeom>
          <a:solidFill>
            <a:srgbClr val="16213E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14416" y="16916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1496" y="23774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39C12"/>
                </a:solidFill>
              </a:rPr>
              <a:t>K-Means
Color 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04304" y="233172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99AA"/>
                </a:solidFill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0064" y="1554480"/>
            <a:ext cx="1920240" cy="1920240"/>
          </a:xfrm>
          <a:prstGeom prst="rect">
            <a:avLst/>
          </a:prstGeom>
          <a:solidFill>
            <a:srgbClr val="16213E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18704" y="16916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🗣️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15784" y="23774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B59B6"/>
                </a:solidFill>
              </a:rPr>
              <a:t>Natural Language
Desc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8592" y="233172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99AA"/>
                </a:solidFill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74352" y="1554480"/>
            <a:ext cx="1920240" cy="1920240"/>
          </a:xfrm>
          <a:prstGeom prst="rect">
            <a:avLst/>
          </a:prstGeom>
          <a:solidFill>
            <a:srgbClr val="16213E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22992" y="16916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0072" y="23774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74C3C"/>
                </a:solidFill>
              </a:rPr>
              <a:t>Voice
Output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749039"/>
            <a:ext cx="11430000" cy="2651760"/>
          </a:xfrm>
          <a:prstGeom prst="rect">
            <a:avLst/>
          </a:prstGeom>
          <a:solidFill>
            <a:srgbClr val="0A1020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840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</a:rPr>
              <a:t>Why VocaVision is Different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343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✅  Fully offline — no internet or API key needed for inference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7183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✅  Real-time live webcam feed processed every 1.5 seconds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0932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✅  Single unified model (YOLO v3) detects both food and clothing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4681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✅  Voice output automatically narrates detected objects with color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8430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✅  14 color names including navy, beige, and neutral tones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3A9BD5"/>
                </a:solidFill>
              </a:rPr>
              <a:t>Three-tier engine with automatic fallback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1430000" cy="1554480"/>
          </a:xfrm>
          <a:prstGeom prst="rect">
            <a:avLst/>
          </a:prstGeom>
          <a:solidFill>
            <a:srgbClr val="16213E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27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5087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YOLO v3 Engine  [PRIMARY]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2024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vocavision_yolo.pt — Custom YOLOv8s fine-tuned on 20 classes
• Single forward pass detects ALL food + clothing objects
• Bounding-box crops fed to K-Means color detector
• Per-class confidence thresholds cut false positives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136391"/>
            <a:ext cx="11430000" cy="1554480"/>
          </a:xfrm>
          <a:prstGeom prst="rect">
            <a:avLst/>
          </a:prstGeom>
          <a:solidFill>
            <a:srgbClr val="16213E"/>
          </a:solidFill>
          <a:ln w="19050">
            <a:solidFill>
              <a:srgbClr val="3A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22783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A9BD5"/>
                </a:solidFill>
              </a:rPr>
              <a:t>Hybrid v2  [FALLBACK]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639311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PyTorch MobileNetV2 (clothing, CUDA) + TF food classifier
• Test-Time Augmentation (TTA) for robust predictions
• Bag-penalty: reduces frequent false-positive class by 40%
• GrabCut segmentation isolates clothing region for color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855464"/>
            <a:ext cx="11430000" cy="1554480"/>
          </a:xfrm>
          <a:prstGeom prst="rect">
            <a:avLst/>
          </a:prstGeom>
          <a:solidFill>
            <a:srgbClr val="16213E"/>
          </a:solidFill>
          <a:ln w="19050">
            <a:solidFill>
              <a:srgbClr val="889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9651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946903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899AA"/>
                </a:solidFill>
              </a:rPr>
              <a:t>TF v1 Legacy  [LAST RESORT]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358383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clothing_classifier.keras — original 3-block CNN
• Always available as final safety net
• Slower but zero additional dependencies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417320"/>
            <a:ext cx="2697480" cy="146304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Auto-selection at startup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18288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EE"/>
                </a:solidFill>
              </a:rPr>
              <a:t>The highest-priority
model that is present on
disk is automatically used.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3A9BD5"/>
                </a:solidFill>
              </a:rPr>
              <a:t>Libraries, frameworks, and models 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2743200" cy="2103120"/>
          </a:xfrm>
          <a:prstGeom prst="rect">
            <a:avLst/>
          </a:prstGeom>
          <a:solidFill>
            <a:srgbClr val="16213E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7276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Ultralytics YOLOv8s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084832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Object detection backbone. Fine-tuned on custom 20-class
food + clothing dataset.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4408" y="1463040"/>
            <a:ext cx="2743200" cy="2103120"/>
          </a:xfrm>
          <a:prstGeom prst="rect">
            <a:avLst/>
          </a:prstGeom>
          <a:solidFill>
            <a:srgbClr val="16213E"/>
          </a:solidFill>
          <a:ln w="19050">
            <a:solidFill>
              <a:srgbClr val="EE4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5848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0208" y="157276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E4422"/>
                </a:solidFill>
              </a:rPr>
              <a:t>PyTorch + CUDA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2084832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MobileNetV2 clothing classifier. GPU-accelerated inference
with torchvision transforms.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8776" y="1463040"/>
            <a:ext cx="2743200" cy="2103120"/>
          </a:xfrm>
          <a:prstGeom prst="rect">
            <a:avLst/>
          </a:prstGeom>
          <a:solidFill>
            <a:srgbClr val="16213E"/>
          </a:solidFill>
          <a:ln w="1905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0216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57276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F00"/>
                </a:solidFill>
              </a:rPr>
              <a:t>TensorFlow / Keras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2084832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Food classifier (MobileNetV2 transfer learning).
Fallback clothing CNN.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53144" y="1463040"/>
            <a:ext cx="2743200" cy="2103120"/>
          </a:xfrm>
          <a:prstGeom prst="rect">
            <a:avLst/>
          </a:prstGeom>
          <a:solidFill>
            <a:srgbClr val="16213E"/>
          </a:solidFill>
          <a:ln w="19050">
            <a:solidFill>
              <a:srgbClr val="3A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44584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👁️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38944" y="157276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9BD5"/>
                </a:solidFill>
              </a:rPr>
              <a:t>OpenCV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2084832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GrabCut segmentation, bounding box rendering,
frame pre-processing.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794760"/>
            <a:ext cx="2743200" cy="2103120"/>
          </a:xfrm>
          <a:prstGeom prst="rect">
            <a:avLst/>
          </a:prstGeom>
          <a:solidFill>
            <a:srgbClr val="16213E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3886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90448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</a:rPr>
              <a:t>scikit-learn K-Means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4416552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Dominant color extraction from YOLO crop regions.
14 named colors via HSV mapping.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64408" y="3794760"/>
            <a:ext cx="2743200" cy="2103120"/>
          </a:xfrm>
          <a:prstGeom prst="rect">
            <a:avLst/>
          </a:prstGeom>
          <a:solidFill>
            <a:srgbClr val="16213E"/>
          </a:solidFill>
          <a:ln w="19050">
            <a:solidFill>
              <a:srgbClr val="FF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55848" y="3886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50208" y="390448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C00"/>
                </a:solidFill>
              </a:rPr>
              <a:t>Gradio 6 (Blocks)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55848" y="4416552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Live webcam streaming UI. Processes frame every 1.5s,
shares annotated output panel.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08776" y="3794760"/>
            <a:ext cx="2743200" cy="2103120"/>
          </a:xfrm>
          <a:prstGeom prst="rect">
            <a:avLst/>
          </a:prstGeom>
          <a:solidFill>
            <a:srgbClr val="16213E"/>
          </a:solidFill>
          <a:ln w="1905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0216" y="3886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90448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BC9C"/>
                </a:solidFill>
              </a:rPr>
              <a:t>gTTS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0216" y="4416552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Google Text-to-Speech. Converts AI description to MP3.
Throttled — fires only on change.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53144" y="3794760"/>
            <a:ext cx="2743200" cy="2103120"/>
          </a:xfrm>
          <a:prstGeom prst="rect">
            <a:avLst/>
          </a:prstGeom>
          <a:solidFill>
            <a:srgbClr val="16213E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44584" y="3886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38944" y="390448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9B6"/>
                </a:solidFill>
              </a:rPr>
              <a:t>rembg (u2netp)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44584" y="4416552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Neural background removal for cleaner color detection
in fallback (non-YOLO) mode.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How It Works — Inference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3A9BD5"/>
                </a:solidFill>
              </a:rPr>
              <a:t>Step-by-step flow from webcam frame to voice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99032"/>
            <a:ext cx="50292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9903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0F1A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8074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Webcam frame captured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DEE"/>
                </a:solidFill>
              </a:rPr>
              <a:t>Gradio streams the live webcam feed. A frame is grabbed every 1.5 s and
converted from PIL RGB to OpenCV BGR for inference.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47672"/>
            <a:ext cx="137160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386584"/>
            <a:ext cx="502920" cy="502920"/>
          </a:xfrm>
          <a:prstGeom prst="rect">
            <a:avLst/>
          </a:prstGeom>
          <a:solidFill>
            <a:srgbClr val="3A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38658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0F1A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36829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A9BD5"/>
                </a:solidFill>
              </a:rPr>
              <a:t>YOLO v3 object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724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DEE"/>
                </a:solidFill>
              </a:rPr>
              <a:t>Custom YOLOv8s runs a single forward pass. Per-class confidence thresholds
filter detections: Bag ≥75%, Sneaker ≥70%, all others ≥52%.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935224"/>
            <a:ext cx="137160" cy="347472"/>
          </a:xfrm>
          <a:prstGeom prst="rect">
            <a:avLst/>
          </a:prstGeom>
          <a:solidFill>
            <a:srgbClr val="3A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374136"/>
            <a:ext cx="50292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37413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0F1A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3558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K-Means color extraction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71246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DEE"/>
                </a:solidFill>
              </a:rPr>
              <a:t>For each clothing bounding box crop, K-Means (k=4) clusters pixel colors.
Background clusters (white/black &gt;70%) are discarded automatically.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922776"/>
            <a:ext cx="137160" cy="3474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4361688"/>
            <a:ext cx="502920" cy="5029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43616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0F1A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343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B59B6"/>
                </a:solidFill>
              </a:rPr>
              <a:t>Natural language description built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70001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DEE"/>
                </a:solidFill>
              </a:rPr>
              <a:t>Oxford-comma sentence generator: 'I can see a red T-shirt and a pizza.'
Falls back to classifier pipeline if YOLO finds nothing confident.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910328"/>
            <a:ext cx="137160" cy="34747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5349240"/>
            <a:ext cx="502920" cy="5029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5349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0F1A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3309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BC9C"/>
                </a:solidFill>
              </a:rPr>
              <a:t>Voice output (throttled)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6875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DEE"/>
                </a:solidFill>
              </a:rPr>
              <a:t>gTTS converts description to MP3. gr.State tracks the last description —
audio only fires when the detected object changes, preventing repetition.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Model Details &amp;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3A9BD5"/>
                </a:solidFill>
              </a:rPr>
              <a:t>Datasets, architectures, and expected performance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10652760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44475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0F1A"/>
                </a:solidFill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44475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0F1A"/>
                </a:solidFill>
              </a:rP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44475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0F1A"/>
                </a:solidFill>
              </a:rP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444752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0F1A"/>
                </a:solidFill>
              </a:rPr>
              <a:t>Classes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1444752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0F1A"/>
                </a:solidFill>
              </a:rPr>
              <a:t>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920240"/>
            <a:ext cx="1065276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59" y="1993392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YOLO v3 Detector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993392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Custom (food+clothing)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993392"/>
            <a:ext cx="24688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YOLOv8s fine-tuned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1993392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1993392"/>
            <a:ext cx="1463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~mAP50 see runs/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578608"/>
            <a:ext cx="10652760" cy="621792"/>
          </a:xfrm>
          <a:prstGeom prst="rect">
            <a:avLst/>
          </a:prstGeom>
          <a:solidFill>
            <a:srgbClr val="12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59" y="265176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Food Classifier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265176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Food-101 (10 classes)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651760"/>
            <a:ext cx="24688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MobileNetV2 + TL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2651760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651760"/>
            <a:ext cx="1463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~75–85%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236976"/>
            <a:ext cx="1065276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59" y="3310128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Clothing v2 (PT)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310128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Fashion-MNIST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310128"/>
            <a:ext cx="24688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MobileNetV2 + TTA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3310128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3310128"/>
            <a:ext cx="1463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~88–92%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895344"/>
            <a:ext cx="10652760" cy="621792"/>
          </a:xfrm>
          <a:prstGeom prst="rect">
            <a:avLst/>
          </a:prstGeom>
          <a:solidFill>
            <a:srgbClr val="12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59" y="3968496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Clothing v1 (TF)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3968496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Fashion-MNIST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3968496"/>
            <a:ext cx="24688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3-block CNN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3968496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3968496"/>
            <a:ext cx="1463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~88–90%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617720"/>
            <a:ext cx="5212080" cy="2011680"/>
          </a:xfrm>
          <a:prstGeom prst="rect">
            <a:avLst/>
          </a:prstGeom>
          <a:solidFill>
            <a:srgbClr val="16213E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663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Food Classes (10)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074920"/>
            <a:ext cx="49377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Apple Pie  •  Fried Rice  •  Hamburger  •  Hot Dog  •  Ice Cream
Pizza  •  Ramen  •  Samosa  •  Sushi  •  Waffles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60720" y="4617720"/>
            <a:ext cx="6217920" cy="2011680"/>
          </a:xfrm>
          <a:prstGeom prst="rect">
            <a:avLst/>
          </a:prstGeom>
          <a:solidFill>
            <a:srgbClr val="16213E"/>
          </a:solidFill>
          <a:ln w="12700">
            <a:solidFill>
              <a:srgbClr val="3A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97880" y="4663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9BD5"/>
                </a:solidFill>
              </a:rPr>
              <a:t>Clothing Classes (10)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97880" y="5074920"/>
            <a:ext cx="5943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T-shirt/Top  •  Trouser  •  Pullover  •  Dress  •  Coat
Sandal  •  Shirt  •  Sneaker  •  Bag  •  Ankle Boot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3A9BD5"/>
                </a:solidFill>
              </a:rPr>
              <a:t>What makes VocaVision stand 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5715000" cy="2057400"/>
          </a:xfrm>
          <a:prstGeom prst="rect">
            <a:avLst/>
          </a:prstGeom>
          <a:solidFill>
            <a:srgbClr val="16213E"/>
          </a:solidFill>
          <a:ln w="2286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74C3C"/>
                </a:solidFill>
              </a:rPr>
              <a:t>🔴 Live Video Feed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20824"/>
            <a:ext cx="109728" cy="10972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65960"/>
            <a:ext cx="5193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Real-time webcam detection via Gradio streaming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96312"/>
            <a:ext cx="109728" cy="10972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441448"/>
            <a:ext cx="5193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Annotated bounding-box output panel updates every 1.5s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71800"/>
            <a:ext cx="109728" cy="10972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916936"/>
            <a:ext cx="5193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No snapshot button needed — fully automatic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703320"/>
            <a:ext cx="5715000" cy="2057400"/>
          </a:xfrm>
          <a:prstGeom prst="rect">
            <a:avLst/>
          </a:prstGeom>
          <a:solidFill>
            <a:srgbClr val="16213E"/>
          </a:solidFill>
          <a:ln w="2286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794759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🟢 Multi-Class Detection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06823"/>
            <a:ext cx="109728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251959"/>
            <a:ext cx="5193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Single YOLO model covers 10 food + 10 clothing classes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82312"/>
            <a:ext cx="109728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727448"/>
            <a:ext cx="5193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Multiple objects in one frame handled simultaneously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257799"/>
            <a:ext cx="109728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202936"/>
            <a:ext cx="5193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Oxford-comma natural sentences for multi-item scenes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417320"/>
            <a:ext cx="5715000" cy="2057400"/>
          </a:xfrm>
          <a:prstGeom prst="rect">
            <a:avLst/>
          </a:prstGeom>
          <a:solidFill>
            <a:srgbClr val="16213E"/>
          </a:solidFill>
          <a:ln w="22860">
            <a:solidFill>
              <a:srgbClr val="3A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5087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A9BD5"/>
                </a:solidFill>
              </a:rPr>
              <a:t>🔵 Smart Color Detection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020824"/>
            <a:ext cx="109728" cy="109728"/>
          </a:xfrm>
          <a:prstGeom prst="rect">
            <a:avLst/>
          </a:prstGeom>
          <a:solidFill>
            <a:srgbClr val="3A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01968" y="1965960"/>
            <a:ext cx="5193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14 named colors incl. navy, beige, pink, brown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496312"/>
            <a:ext cx="109728" cy="109728"/>
          </a:xfrm>
          <a:prstGeom prst="rect">
            <a:avLst/>
          </a:prstGeom>
          <a:solidFill>
            <a:srgbClr val="3A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1968" y="2441448"/>
            <a:ext cx="5193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Background suppression — ignores white studio backdrops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971800"/>
            <a:ext cx="109728" cy="109728"/>
          </a:xfrm>
          <a:prstGeom prst="rect">
            <a:avLst/>
          </a:prstGeom>
          <a:solidFill>
            <a:srgbClr val="3A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01968" y="2916936"/>
            <a:ext cx="5193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K-Means clusters on YOLO crop (not full frame)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3703320"/>
            <a:ext cx="5715000" cy="2057400"/>
          </a:xfrm>
          <a:prstGeom prst="rect">
            <a:avLst/>
          </a:prstGeom>
          <a:solidFill>
            <a:srgbClr val="16213E"/>
          </a:solidFill>
          <a:ln w="2286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794759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9C12"/>
                </a:solidFill>
              </a:rPr>
              <a:t>🟡 Voice Narration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306823"/>
            <a:ext cx="109728" cy="1097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01968" y="4251959"/>
            <a:ext cx="5193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gTTS converts description to spoken MP3 automatically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782312"/>
            <a:ext cx="109728" cy="1097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01968" y="4727448"/>
            <a:ext cx="5193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Audio throttled via gr.State — fires only on change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5257799"/>
            <a:ext cx="109728" cy="1097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01968" y="5202936"/>
            <a:ext cx="5193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Natural phrasing: 'I can see a red T-shirt'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Live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3A9BD5"/>
                </a:solidFill>
              </a:rPr>
              <a:t>VocaVision running on webcam in real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463040"/>
            <a:ext cx="9445752" cy="4206240"/>
          </a:xfrm>
          <a:prstGeom prst="rect">
            <a:avLst/>
          </a:prstGeom>
          <a:solidFill>
            <a:srgbClr val="050812"/>
          </a:solidFill>
          <a:ln w="317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463040"/>
            <a:ext cx="9445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224422"/>
                </a:solidFill>
              </a:rPr>
              <a:t>▶  LIVE DEMO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508760"/>
            <a:ext cx="100584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55448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</a:rPr>
              <a:t>📷  Camera tab → allow access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2514600"/>
            <a:ext cx="100584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" y="256032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</a:rPr>
              <a:t>🔍  Detection starts automatically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3520440"/>
            <a:ext cx="100584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" y="356616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</a:rPr>
              <a:t>🎨  Colors shown on annotated panel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4526280"/>
            <a:ext cx="100584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457200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</a:rPr>
              <a:t>🔊  Voice fires on new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99AA"/>
                </a:solidFill>
              </a:rPr>
              <a:t>Open  http://localhost:7860  →  python app.py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Challenges Faced &amp;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3A9BD5"/>
                </a:solidFill>
              </a:rPr>
              <a:t>Key engineering problems encountered during development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5669280" cy="2331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4904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</a:rPr>
              <a:t>🛑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81051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DEE"/>
                </a:solidFill>
              </a:rPr>
              <a:t>Bag class false positives — YOLO frequently labeled red T-shirts as 'Bag'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350008"/>
            <a:ext cx="566928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24414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✅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770632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DEE"/>
                </a:solidFill>
              </a:rPr>
              <a:t>Per-class confidence thresholds: Bag requires ≥75% confidence vs 52% default.
Fallback path applies a 40% penalty to Bag probability.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669280" cy="2331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79" y="14904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</a:rPr>
              <a:t>🛑 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79" y="181051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DEE"/>
                </a:solidFill>
              </a:rPr>
              <a:t>Color detector returning 'white' for studio-background clothing photos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350008"/>
            <a:ext cx="566928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79" y="24414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✅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79" y="2770632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DEE"/>
                </a:solidFill>
              </a:rPr>
              <a:t>Background cluster filter: near-white clusters covering &gt;70% of image
are skipped; next most-dominant color promoted as result.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931920"/>
            <a:ext cx="5669280" cy="2331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40050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</a:rPr>
              <a:t>🛑 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432511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DEE"/>
                </a:solidFill>
              </a:rPr>
              <a:t>PyTorch checkpoint saved as wrapped dict (model_state key), not plain state_dict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864608"/>
            <a:ext cx="566928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49560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✅ Solution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5285231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DEE"/>
                </a:solidFill>
              </a:rPr>
              <a:t>Loader detects the wrapper format and unwraps model_state automatically.
Backward-compatible with both plain and wrapped checkpoint formats.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931920"/>
            <a:ext cx="5669280" cy="2331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79" y="40050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</a:rPr>
              <a:t>🛑 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79" y="432511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DEE"/>
                </a:solidFill>
              </a:rPr>
              <a:t>Gradio 6 breaking changes: theme in Blocks(), mirror_webcam removed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4864608"/>
            <a:ext cx="566928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79" y="49560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✅ Solution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79" y="5285231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DEE"/>
                </a:solidFill>
              </a:rPr>
              <a:t>Migrated theme to launch(). Removed mirror_webcam parameter.
Streaming tested with concurrency_limit=1 to avoid GPU contention.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3A9BD5"/>
                </a:solidFill>
              </a:rPr>
              <a:t>Planned improvements and extended capabilities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3749039" cy="2286000"/>
          </a:xfrm>
          <a:prstGeom prst="rect">
            <a:avLst/>
          </a:prstGeom>
          <a:solidFill>
            <a:srgbClr val="16213E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508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2704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Mobile App (Flutter / React Native)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79" y="2066544"/>
            <a:ext cx="109728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7" y="2011680"/>
            <a:ext cx="33192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On-device ONNX/TFLite model export for real-time phone camera 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" y="2578608"/>
            <a:ext cx="109728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7" y="2523744"/>
            <a:ext cx="33192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Offline TTS with no internet dependency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79" y="3090672"/>
            <a:ext cx="109728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7" y="3035808"/>
            <a:ext cx="33192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Haptic + audio feedback modes for accessibility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1417320"/>
            <a:ext cx="3749039" cy="2286000"/>
          </a:xfrm>
          <a:prstGeom prst="rect">
            <a:avLst/>
          </a:prstGeom>
          <a:solidFill>
            <a:srgbClr val="16213E"/>
          </a:solidFill>
          <a:ln w="19050">
            <a:solidFill>
              <a:srgbClr val="3A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399" y="1508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59" y="152704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9BD5"/>
                </a:solidFill>
              </a:rPr>
              <a:t>Multi-Language Voice Output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399" y="2066544"/>
            <a:ext cx="109728" cy="109728"/>
          </a:xfrm>
          <a:prstGeom prst="rect">
            <a:avLst/>
          </a:prstGeom>
          <a:solidFill>
            <a:srgbClr val="3A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7" y="2011680"/>
            <a:ext cx="33192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Support Hindi, Tamil, French and other languages via gTTS lang codes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399" y="2578608"/>
            <a:ext cx="109728" cy="109728"/>
          </a:xfrm>
          <a:prstGeom prst="rect">
            <a:avLst/>
          </a:prstGeom>
          <a:solidFill>
            <a:srgbClr val="3A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7" y="2523744"/>
            <a:ext cx="33192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Language auto-detection based on device locale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399" y="3090672"/>
            <a:ext cx="109728" cy="109728"/>
          </a:xfrm>
          <a:prstGeom prst="rect">
            <a:avLst/>
          </a:prstGeom>
          <a:solidFill>
            <a:srgbClr val="3A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7" y="3035808"/>
            <a:ext cx="33192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Regional food &amp; clothing terminology adaptation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79" y="1417320"/>
            <a:ext cx="3749039" cy="2286000"/>
          </a:xfrm>
          <a:prstGeom prst="rect">
            <a:avLst/>
          </a:prstGeom>
          <a:solidFill>
            <a:srgbClr val="16213E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19" y="1508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152704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</a:rPr>
              <a:t>Expanded Class Coverage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19" y="2066544"/>
            <a:ext cx="109728" cy="1097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2011680"/>
            <a:ext cx="33192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Grow clothing to 50+ classes (jackets, kurtas, sarees, etc.)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19" y="2578608"/>
            <a:ext cx="109728" cy="1097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76488" y="2523744"/>
            <a:ext cx="33192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Expand food to 50+ classes using Food-101 full dataset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19" y="3090672"/>
            <a:ext cx="109728" cy="1097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76488" y="3035808"/>
            <a:ext cx="33192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Pattern detection: stripes, floral, plain, checkered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886200"/>
            <a:ext cx="3749039" cy="2286000"/>
          </a:xfrm>
          <a:prstGeom prst="rect">
            <a:avLst/>
          </a:prstGeom>
          <a:solidFill>
            <a:srgbClr val="16213E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79" y="397763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399592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9B6"/>
                </a:solidFill>
              </a:rPr>
              <a:t>LLM-Enhanced Descriptions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79" y="4535424"/>
            <a:ext cx="109728" cy="10972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7" y="4480560"/>
            <a:ext cx="33192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Pipe YOLO detections into a small on-device LLM (e.g., Gemma 2B)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79" y="5047488"/>
            <a:ext cx="109728" cy="10972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7" y="4992624"/>
            <a:ext cx="33192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Generate richer sentences: 'A red striped T-shirt — casual style'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79" y="5559552"/>
            <a:ext cx="109728" cy="10972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7" y="5504688"/>
            <a:ext cx="33192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Context-aware suggestions: 'Good for office wear'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51959" y="3886200"/>
            <a:ext cx="3749039" cy="2286000"/>
          </a:xfrm>
          <a:prstGeom prst="rect">
            <a:avLst/>
          </a:prstGeom>
          <a:solidFill>
            <a:srgbClr val="16213E"/>
          </a:solidFill>
          <a:ln w="1905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43399" y="397763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37759" y="399592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BC9C"/>
                </a:solidFill>
              </a:rPr>
              <a:t>User Analytics Dashboard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43399" y="4535424"/>
            <a:ext cx="109728" cy="10972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44567" y="4480560"/>
            <a:ext cx="33192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Track detection history with timestamps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43399" y="5047488"/>
            <a:ext cx="109728" cy="10972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44567" y="4992624"/>
            <a:ext cx="33192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Export daily usage reports (CSV/PDF)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43399" y="5559552"/>
            <a:ext cx="109728" cy="10972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44567" y="5504688"/>
            <a:ext cx="33192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Insights on most-detected items for caregiver review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83879" y="3886200"/>
            <a:ext cx="3749039" cy="2286000"/>
          </a:xfrm>
          <a:prstGeom prst="rect">
            <a:avLst/>
          </a:prstGeom>
          <a:solidFill>
            <a:srgbClr val="16213E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75319" y="397763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9680" y="399592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</a:rPr>
              <a:t>Privacy Mode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75319" y="4535424"/>
            <a:ext cx="109728" cy="10972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76488" y="4480560"/>
            <a:ext cx="33192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All inference stays fully offline with local TTS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75319" y="5047488"/>
            <a:ext cx="109728" cy="10972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76488" y="4992624"/>
            <a:ext cx="33192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No webcam frames stored or transmitted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75319" y="5559552"/>
            <a:ext cx="109728" cy="10972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76488" y="5504688"/>
            <a:ext cx="33192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GDPR-compliant local processing pipeline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0" y="731520"/>
            <a:ext cx="8869680" cy="5394960"/>
          </a:xfrm>
          <a:prstGeom prst="rect">
            <a:avLst/>
          </a:prstGeom>
          <a:solidFill>
            <a:srgbClr val="16213E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914400"/>
            <a:ext cx="8869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🎙️  👁️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783080"/>
            <a:ext cx="8869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VocaVision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743200"/>
            <a:ext cx="8869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3A9BD5"/>
                </a:solidFill>
              </a:rPr>
              <a:t>Empowering independence through AI-driven vision and voice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385315" y="3520440"/>
            <a:ext cx="1737360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5315" y="353872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0F1A"/>
                </a:solidFill>
              </a:rPr>
              <a:t>20 Classes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05556" y="3520440"/>
            <a:ext cx="1737360" cy="347472"/>
          </a:xfrm>
          <a:prstGeom prst="rect">
            <a:avLst/>
          </a:prstGeom>
          <a:solidFill>
            <a:srgbClr val="3A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05556" y="353872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0F1A"/>
                </a:solidFill>
              </a:rPr>
              <a:t>YOLO v3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25796" y="3520440"/>
            <a:ext cx="1737360" cy="3474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25796" y="353872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0F1A"/>
                </a:solidFill>
              </a:rPr>
              <a:t>14 Colors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36" y="3520440"/>
            <a:ext cx="1737360" cy="34747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46036" y="353872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Live Feed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66276" y="3520440"/>
            <a:ext cx="1737360" cy="34747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6276" y="353872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0F1A"/>
                </a:solidFill>
              </a:rPr>
              <a:t>Voice 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160520"/>
            <a:ext cx="8869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ECC71"/>
                </a:solidFill>
              </a:rPr>
              <a:t>Thank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89204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99AA"/>
                </a:solidFill>
              </a:rPr>
              <a:t>Questions &amp; Discussion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263640"/>
            <a:ext cx="12188952" cy="50292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6291072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9AA"/>
                </a:solidFill>
              </a:rPr>
              <a:t>github.com/VocaVision  |  python app.py  →  http://localhost:7860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